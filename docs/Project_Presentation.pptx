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739686-DDE6-497F-B3E8-E345EC314392}" v="1" dt="2026-07-27T06:25:11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xmi yadav" userId="f8808ff6be82222c" providerId="LiveId" clId="{00CF514A-CE6E-4450-AA7C-68CE8B88501B}"/>
    <pc:docChg chg="modSld">
      <pc:chgData name="Laxmi yadav" userId="f8808ff6be82222c" providerId="LiveId" clId="{00CF514A-CE6E-4450-AA7C-68CE8B88501B}" dt="2026-07-27T06:25:11.354" v="0" actId="571"/>
      <pc:docMkLst>
        <pc:docMk/>
      </pc:docMkLst>
      <pc:sldChg chg="addSp modSp">
        <pc:chgData name="Laxmi yadav" userId="f8808ff6be82222c" providerId="LiveId" clId="{00CF514A-CE6E-4450-AA7C-68CE8B88501B}" dt="2026-07-27T06:25:11.354" v="0" actId="571"/>
        <pc:sldMkLst>
          <pc:docMk/>
          <pc:sldMk cId="0" sldId="267"/>
        </pc:sldMkLst>
        <pc:spChg chg="add mod">
          <ac:chgData name="Laxmi yadav" userId="f8808ff6be82222c" providerId="LiveId" clId="{00CF514A-CE6E-4450-AA7C-68CE8B88501B}" dt="2026-07-27T06:25:11.354" v="0" actId="571"/>
          <ac:spMkLst>
            <pc:docMk/>
            <pc:sldMk cId="0" sldId="267"/>
            <ac:spMk id="21" creationId="{35C9C625-82C6-0438-17AB-F27DC497FBD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Test Accuracy &amp; Weighted F1-Score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Proposed (EPM)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55.25</c:v>
                </c:pt>
                <c:pt idx="1">
                  <c:v>60.92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1A-4F89-AC2D-07A2CC5DC2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F1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Proposed (EPM)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55.64</c:v>
                </c:pt>
                <c:pt idx="1">
                  <c:v>61.02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1A-4F89-AC2D-07A2CC5DC2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45"/>
        </c:scaling>
        <c:delete val="0"/>
        <c:axPos val="l"/>
        <c:majorGridlines>
          <c:spPr>
            <a:ln w="12700" cap="flat">
              <a:solidFill>
                <a:srgbClr val="BFBF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731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366D5-F254-F725-9483-4CBD10D40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D71FB-9EFB-F1CF-B29B-8FD699B1D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79140-504E-52CA-72CD-35CFF09C3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9887B-D8A5-8996-62B8-8BF284F6DB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33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0"/>
            <a:ext cx="18288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SENTIMENT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Emotion-Aware Multimodal Sentiment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Using Prototype Memory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77240" y="4617720"/>
            <a:ext cx="2011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Laxmi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|  GLA University, Mathura, India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Multimodal Sentiment Analysis?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sentiment isn't expressed through words alone — voice tone and facial expression carry signal that text misses.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3832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semantic content of spoken or written words.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2331720"/>
            <a:ext cx="33832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6060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3794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tone, pitch, and speaking style cues.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2331720"/>
            <a:ext cx="33832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6060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3794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facial expressions and visual context.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937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challenges: modalities don't contribute equally per sample, and simple concatenation fails to capture cross-modal relationships.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 Prototype Memory (EPM)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learnable prototype-based refinement module that sharpens the fused multimodal representation before final sentiment classification.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5603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text, audio &amp; video by learned importance, then fuses them via cascaded cross-attention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3375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fused representation against learnable class prototypes using cosine similarity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41148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the representation with retrieved prototype knowledge before the classifier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improves from 55.25% to 60.92%, and weighted F1-score from 55.64% to 61.02% on the MELD dataset.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on Established Foundations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Pretrained encoders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160020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(text), HuBERT (audio), CLIP ViT-B/32 (video) provide strong single-modality representations.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88920"/>
            <a:ext cx="54864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889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Attention-based fusion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278892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self-attention and cross-modal attention model interactions between modalities better than concatenation.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77640"/>
            <a:ext cx="54864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7764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modality importance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0" y="397764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modality is equally informative for every sample — importance should be estimated per-input.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166360"/>
            <a:ext cx="54864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6636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Prototype-based learning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516636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representations to learned class prototypes can sharpen class-discriminative features.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206240" y="763244"/>
            <a:ext cx="397670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Architecture </a:t>
            </a:r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0CCA67-9D96-8A3E-1F17-7AEED380E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81" y="1247193"/>
            <a:ext cx="10307216" cy="5153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77A6B2-D47A-9254-637A-94E72E858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A97137-B594-FC2E-2413-C6B994A5F44C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B747BA8-A514-E6B1-A322-4C00533E110F}"/>
              </a:ext>
            </a:extLst>
          </p:cNvPr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6BF86B-92DA-EE79-4E96-E3818948079D}"/>
              </a:ext>
            </a:extLst>
          </p:cNvPr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Framework — Six Stages</a:t>
            </a:r>
            <a:endParaRPr lang="en-US" sz="2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B27A8A9-C08A-BF3B-7B52-444CFDF9B80F}"/>
              </a:ext>
            </a:extLst>
          </p:cNvPr>
          <p:cNvSpPr/>
          <p:nvPr/>
        </p:nvSpPr>
        <p:spPr>
          <a:xfrm>
            <a:off x="548640" y="23774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37C6E2-7B21-D769-CEC4-EC514137724F}"/>
              </a:ext>
            </a:extLst>
          </p:cNvPr>
          <p:cNvSpPr/>
          <p:nvPr/>
        </p:nvSpPr>
        <p:spPr>
          <a:xfrm>
            <a:off x="54864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86AEB84-27F1-FDA4-960B-60CE15548EBD}"/>
              </a:ext>
            </a:extLst>
          </p:cNvPr>
          <p:cNvSpPr/>
          <p:nvPr/>
        </p:nvSpPr>
        <p:spPr>
          <a:xfrm>
            <a:off x="2240280" y="237744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2174443-EEBA-840A-6E7B-E58511751F19}"/>
              </a:ext>
            </a:extLst>
          </p:cNvPr>
          <p:cNvSpPr/>
          <p:nvPr/>
        </p:nvSpPr>
        <p:spPr>
          <a:xfrm>
            <a:off x="2423160" y="23774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6100991-CB79-DE07-5D54-64A58C6AF0A6}"/>
              </a:ext>
            </a:extLst>
          </p:cNvPr>
          <p:cNvSpPr/>
          <p:nvPr/>
        </p:nvSpPr>
        <p:spPr>
          <a:xfrm>
            <a:off x="242316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178E86C-20EC-38A0-8343-B185D1982772}"/>
              </a:ext>
            </a:extLst>
          </p:cNvPr>
          <p:cNvSpPr/>
          <p:nvPr/>
        </p:nvSpPr>
        <p:spPr>
          <a:xfrm>
            <a:off x="4114800" y="237744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2B05DAA-A5A2-2A53-F439-5A13FAC1C983}"/>
              </a:ext>
            </a:extLst>
          </p:cNvPr>
          <p:cNvSpPr/>
          <p:nvPr/>
        </p:nvSpPr>
        <p:spPr>
          <a:xfrm>
            <a:off x="4297680" y="23774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C0610A4-A939-5B74-395D-258D623E2716}"/>
              </a:ext>
            </a:extLst>
          </p:cNvPr>
          <p:cNvSpPr/>
          <p:nvPr/>
        </p:nvSpPr>
        <p:spPr>
          <a:xfrm>
            <a:off x="429768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&amp;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Encoding</a:t>
            </a:r>
            <a:endParaRPr lang="en-US" sz="11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4573E68-610B-BC92-B186-6A1D33FCCF40}"/>
              </a:ext>
            </a:extLst>
          </p:cNvPr>
          <p:cNvSpPr/>
          <p:nvPr/>
        </p:nvSpPr>
        <p:spPr>
          <a:xfrm>
            <a:off x="5989320" y="237744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E6608EE-849C-A3D8-F2D6-D89026ADAE09}"/>
              </a:ext>
            </a:extLst>
          </p:cNvPr>
          <p:cNvSpPr/>
          <p:nvPr/>
        </p:nvSpPr>
        <p:spPr>
          <a:xfrm>
            <a:off x="6172200" y="23774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55BA4A6-AC75-AA3E-1CEC-933E12FA1E68}"/>
              </a:ext>
            </a:extLst>
          </p:cNvPr>
          <p:cNvSpPr/>
          <p:nvPr/>
        </p:nvSpPr>
        <p:spPr>
          <a:xfrm>
            <a:off x="617220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1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EF564BA-1DAF-F8F7-BD77-44523EB817A8}"/>
              </a:ext>
            </a:extLst>
          </p:cNvPr>
          <p:cNvSpPr/>
          <p:nvPr/>
        </p:nvSpPr>
        <p:spPr>
          <a:xfrm>
            <a:off x="7863840" y="237744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12C6291-92A2-7D33-E23E-CD2946592E5D}"/>
              </a:ext>
            </a:extLst>
          </p:cNvPr>
          <p:cNvSpPr/>
          <p:nvPr/>
        </p:nvSpPr>
        <p:spPr>
          <a:xfrm>
            <a:off x="8046720" y="23774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509E5D7-5359-D52E-2EDF-AF2B0E1B9AA8}"/>
              </a:ext>
            </a:extLst>
          </p:cNvPr>
          <p:cNvSpPr/>
          <p:nvPr/>
        </p:nvSpPr>
        <p:spPr>
          <a:xfrm>
            <a:off x="804672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1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61DF3E-3103-5FD3-ABE5-F3B8F022EF64}"/>
              </a:ext>
            </a:extLst>
          </p:cNvPr>
          <p:cNvSpPr/>
          <p:nvPr/>
        </p:nvSpPr>
        <p:spPr>
          <a:xfrm>
            <a:off x="9738360" y="237744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2F7D30C-D359-0BB2-3BA2-8FAC3B7374D3}"/>
              </a:ext>
            </a:extLst>
          </p:cNvPr>
          <p:cNvSpPr/>
          <p:nvPr/>
        </p:nvSpPr>
        <p:spPr>
          <a:xfrm>
            <a:off x="9921240" y="23774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6713DD6-0A6A-8DD3-37C0-4822A085F197}"/>
              </a:ext>
            </a:extLst>
          </p:cNvPr>
          <p:cNvSpPr/>
          <p:nvPr/>
        </p:nvSpPr>
        <p:spPr>
          <a:xfrm>
            <a:off x="992124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+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D9ED226-C084-BD33-7E36-E470E70CEC41}"/>
              </a:ext>
            </a:extLst>
          </p:cNvPr>
          <p:cNvSpPr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audio &amp; video features are extracted, reduced, projected into a shared space, ranked by importance, fused via cascaded cross-attention, and refined by Emotion Prototype Memory before Softmax classification.</a:t>
            </a:r>
            <a:endParaRPr lang="en-US" sz="13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90B7713-B43D-9E2F-81BE-F8D77BFB08D5}"/>
              </a:ext>
            </a:extLst>
          </p:cNvPr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BBC63C2-9020-16DA-8043-B7EA20FB8959}"/>
              </a:ext>
            </a:extLst>
          </p:cNvPr>
          <p:cNvSpPr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→ PCA → Linear Projection → Transformer Context Encoder → Dynamic Modality Importance (ranking) → Cascaded Cross-Attention → Emotion Prototype Memory → FC + Softmax → Sentiment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55AB387-9B71-92FF-DC56-3F16F609B37B}"/>
              </a:ext>
            </a:extLst>
          </p:cNvPr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1DE255B-BAAC-C462-87C0-8B1AC32EA257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CA8FC31-6990-1076-407F-A1DA4EA5C378}"/>
              </a:ext>
            </a:extLst>
          </p:cNvPr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7476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Feature Extraction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38328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338328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768-D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token embedding used as sentence-level representation of the utterance.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338328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600200"/>
            <a:ext cx="338328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874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697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768-D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26280" y="329184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speech model captures acoustic tone, pitch and speaking style.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1600200"/>
            <a:ext cx="338328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00200"/>
            <a:ext cx="338328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1874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2697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512-D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29600" y="329184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encoder extracts semantic &amp; visual features from a representative frame.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BERT(Xt)      A = HuBERT(Xa)      V = CLIP(Xv)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 with PCA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features are compressed to reduce redundancy and computational cost before fusion.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286000"/>
          <a:ext cx="9601200" cy="914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Dim.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Dim.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(BERT)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 ↓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(HuBERT)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 ↓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(CLIP ViT-B/32)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96.9% ↓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features shrink most aggressively (512→16) — CLIP embeddings carry highly redundant information for this task.</a:t>
            </a:r>
            <a:endParaRPr lang="en-US" sz="1300" dirty="0"/>
          </a:p>
        </p:txBody>
      </p:sp>
      <p:sp>
        <p:nvSpPr>
          <p:cNvPr id="6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Modality Importance (DMI)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modality is equally useful for every sample — DMI learns per-sample importance weights before fusion.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Per-modality scoring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980944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5292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Context-encoded text, audio &amp; video pass through independent scoring layers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639312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11296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normalized with Softmax into weights αt, αa, αv (they sum to 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297680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6966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weight ⇒ that modality carries more sentiment signal for this sample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956048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82803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features are ranked and handed to cross-attention fusion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286000"/>
            <a:ext cx="5669280" cy="3566160"/>
          </a:xfrm>
          <a:prstGeom prst="roundRect">
            <a:avLst>
              <a:gd name="adj" fmla="val 1538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Weighting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971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= f(modality context)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αi = exp(si) / Σ exp(sj)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αt + αa + αv = 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343400"/>
            <a:ext cx="512064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526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representations: Tw = αt·Tc,  Aw = αa·Ac,  Vw = αv·Vc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5212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and passed to cascaded cross-attention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Cascaded Cross-Attention Fusion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are combined progressively by importance rank — not concatenated — so each stage learns richer cross-modal interactions.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(top-ranked)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06040" y="246888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246888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20840" y="246888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78240" y="246888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 fused)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06040" y="1737360"/>
            <a:ext cx="16916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7373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47288" y="2286000"/>
            <a:ext cx="0" cy="18288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1737360"/>
            <a:ext cx="16916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7373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62088" y="2286000"/>
            <a:ext cx="0" cy="18288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 Prototype Memory (EPM)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00200" y="173736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173736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prototypes — one representative pattern per sentiment class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7121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7432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74320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between fused feature F and each prototype Pi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8444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71246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358444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35844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similarities gives attention weights βi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42569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55371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442569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66160" y="4425696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prototypes → retrieved representation R = Σ βi·Pi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539496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63040" y="526694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66160" y="5266944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feature F′ = F + R, passed to the classifier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&amp; Training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4008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118872" cy="1188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01368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feature F′ → fully connected layer → Softmax over 3 classes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35224"/>
            <a:ext cx="118872" cy="1188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88920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label = argmax over class probabilities P(yi)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922776"/>
            <a:ext cx="118872" cy="1188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76472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end-to-end with cross-entropy loss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910328"/>
            <a:ext cx="118872" cy="1188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764024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— projections, context encoder, DMI, fusion, EPM, classifier — optimized jointly via backpropagation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223760" y="1600200"/>
            <a:ext cx="4389120" cy="4206240"/>
          </a:xfrm>
          <a:prstGeom prst="roundRect">
            <a:avLst>
              <a:gd name="adj" fmla="val 1304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0" y="2377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0" y="2834640"/>
            <a:ext cx="39319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26880" y="2971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98080" y="3429000"/>
            <a:ext cx="39319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Neutral / Negative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98080" y="4023360"/>
            <a:ext cx="39319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26880" y="4160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498080" y="4617720"/>
            <a:ext cx="39319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MELD Dataset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EmotionLines Dataset — collected from the TV series Friends, with synchronized text, audio &amp; video per utterance.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21945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series “Friends” — multi-party conversations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31089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text, audio &amp; video per utterance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23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used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0233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Positive / Neutral / Negative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937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49377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train / validation / test splits used for fair evaluation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35C9C625-82C6-0438-17AB-F27DC497FBDC}"/>
              </a:ext>
            </a:extLst>
          </p:cNvPr>
          <p:cNvSpPr/>
          <p:nvPr/>
        </p:nvSpPr>
        <p:spPr>
          <a:xfrm>
            <a:off x="548640" y="17373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EmotionLines Dataset — collected from the TV series Friends, with synchronized text, audio &amp; video per utterance.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Proposed (EPM) Model</a:t>
            </a:r>
            <a:endParaRPr lang="en-US" sz="2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5448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554480"/>
            <a:ext cx="4023360" cy="1965960"/>
          </a:xfrm>
          <a:prstGeom prst="roundRect">
            <a:avLst>
              <a:gd name="adj" fmla="val 2791"/>
            </a:avLst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0" y="16916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+5.67 pts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589520" y="2514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89520" y="3794760"/>
            <a:ext cx="40233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39319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+5.38 pts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589520" y="47548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improvement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EPM Helps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Complementary modalities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audio &amp; video jointly capture semantic content, speech characteristics, and visual cues that no single modality provides alone.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fusion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7720" y="315468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DMI + cascaded cross-attention emphasize the most informative modality per sample while retaining complementary signal.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606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refinement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12480" y="315468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injects class-specific knowledge, reducing ambiguity between overlapping sentiment classes before classification.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prototype-based refinement is a lightweight, effective add-on to attention-based multimodal fusion pipelines.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914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92808"/>
            <a:ext cx="109728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43698" y="2624328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77440"/>
            <a:ext cx="7030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+ HuBERT + CLIP feature extraction, PCA reduction, and shared-space projection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23544" y="3424149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2724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Modality Importance ranks modalities per sample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24850" y="4170784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87705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cross-attention fusion combines modalities progressively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7045" y="4895959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62686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refines the fused representation with learned prototypes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7045" y="5641848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667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improves from 55.25% → 60.92% on MELD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12280" y="23774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12280" y="312724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12280" y="387705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12280" y="462686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12280" y="537667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Multimodal Sentiment Analysis using Prototype Memory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880360"/>
            <a:ext cx="20116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514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Laxmi  |  Department of Computer Science and Engineering, GLA University, Mathura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1208</Words>
  <Application>Microsoft Office PowerPoint</Application>
  <PresentationFormat>Widescreen</PresentationFormat>
  <Paragraphs>243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Laxmi yadav</cp:lastModifiedBy>
  <cp:revision>2</cp:revision>
  <dcterms:created xsi:type="dcterms:W3CDTF">2026-07-26T17:59:15Z</dcterms:created>
  <dcterms:modified xsi:type="dcterms:W3CDTF">2026-07-27T06:26:07Z</dcterms:modified>
</cp:coreProperties>
</file>